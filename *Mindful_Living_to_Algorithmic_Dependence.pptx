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30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3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3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36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3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4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/>
          <p:nvPr>
            <p:ph type="title"/>
          </p:nvPr>
        </p:nvSpPr>
        <p:spPr>
          <a:xfrm>
            <a:off x="0" y="0"/>
            <a:ext cx="6476761" cy="83772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xfrm>
            <a:off x="8885630" y="6620294"/>
            <a:ext cx="258371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3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0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2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6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9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6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8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7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7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84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85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6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88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3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90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9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2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9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itle Text"/>
          <p:cNvSpPr txBox="1"/>
          <p:nvPr>
            <p:ph type="title"/>
          </p:nvPr>
        </p:nvSpPr>
        <p:spPr>
          <a:xfrm>
            <a:off x="0" y="0"/>
            <a:ext cx="6476761" cy="83772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l">
              <a:lnSpc>
                <a:spcPct val="90000"/>
              </a:lnSpc>
              <a:defRPr spc="0" sz="4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8885630" y="6620294"/>
            <a:ext cx="258371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3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6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pc="-1" sz="1200">
                <a:solidFill>
                  <a:srgbClr val="89898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3080" marR="0" indent="-3427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822" marR="0" indent="-326262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079" marR="0" indent="-30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1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3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5719" y="840630"/>
            <a:ext cx="9052562" cy="7805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 Presentation of Co-Op Project at Industry (Module-1) 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</a:t>
            </a:r>
          </a:p>
          <a:p>
            <a:pPr algn="ctr">
              <a:spcBef>
                <a:spcPts val="400"/>
              </a:spcBef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Mindful Living to Algorithmic Dependence</a:t>
            </a:r>
            <a:endParaRPr i="1" spc="-1" sz="2000"/>
          </a:p>
          <a:p>
            <a:pPr algn="ctr">
              <a:spcBef>
                <a:spcPts val="400"/>
              </a:spcBef>
              <a:defRPr i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Psychological Consequences of AI-Driven Health and Wellness Applications</a:t>
            </a:r>
            <a:endParaRPr spc="-1" sz="2000"/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i="1"/>
            </a:br>
            <a:r>
              <a:t>Hiya Kashyap &amp; Shivi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Supervised By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Rajat Takkar, Department of Computer Science and Engineering, Chitkara University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Engineering, </a:t>
            </a:r>
          </a:p>
          <a:p>
            <a:pPr algn="ctr"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pc="-1" sz="20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 &amp; Objective</a:t>
            </a:r>
          </a:p>
        </p:txBody>
      </p:sp>
      <p:sp>
        <p:nvSpPr>
          <p:cNvPr id="108" name="TextShape 3"/>
          <p:cNvSpPr txBox="1"/>
          <p:nvPr>
            <p:ph type="sldNum" sz="quarter" idx="4294967295"/>
          </p:nvPr>
        </p:nvSpPr>
        <p:spPr>
          <a:xfrm>
            <a:off x="8721495" y="6650681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09" name="TextShape 2"/>
          <p:cNvSpPr txBox="1"/>
          <p:nvPr/>
        </p:nvSpPr>
        <p:spPr>
          <a:xfrm>
            <a:off x="209727" y="1109741"/>
            <a:ext cx="8747282" cy="3823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Background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AI-driven health and wellness apps (fitness trackers, calorie counters, sleep apps, chatbots) are now deeply embedded in daily life.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began as helpful tools for mindful living is shifting into algorithmic dependence, affecting mental, emotional, and cognitive well-being.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Objectives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Identify the boundary where self-tracking turns from helpful to counterproductive.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Examine how AI companions affect empathy, non-verbal intelligence, and conflict-resolution skills.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Determine which cognitive skills (memory, navigation, attention) are being sacrificed to algorithms.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112" name="TextShape 3"/>
          <p:cNvSpPr txBox="1"/>
          <p:nvPr>
            <p:ph type="sldNum" sz="quarter" idx="4294967295"/>
          </p:nvPr>
        </p:nvSpPr>
        <p:spPr>
          <a:xfrm>
            <a:off x="8721495" y="6650681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13" name="TextShape 2"/>
          <p:cNvSpPr txBox="1"/>
          <p:nvPr/>
        </p:nvSpPr>
        <p:spPr>
          <a:xfrm>
            <a:off x="209727" y="1109741"/>
            <a:ext cx="8747282" cy="3927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Approach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Systematic literature review of 15 empirical studies (2020-2025).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Combined sample size across studies: over 80,000 participants.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Sources &amp; Criteria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Databases searched on four themes: health-tracking &amp; psychology, AI chatbots, digital amnesia, and eating disorders &amp; apps.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Included only peer-reviewed empirical studies with human subjects, clear methodology, and relevance to research questions.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Theoretical Framework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Grounded in Self-Determination Theory, Enhancement vs. Replacement model, Brain Plasticity, and Motivation Theory.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16" name="TextShape 3"/>
          <p:cNvSpPr txBox="1"/>
          <p:nvPr>
            <p:ph type="sldNum" sz="quarter" idx="4294967295"/>
          </p:nvPr>
        </p:nvSpPr>
        <p:spPr>
          <a:xfrm>
            <a:off x="8721495" y="6650681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17" name="TextShape 2"/>
          <p:cNvSpPr txBox="1"/>
          <p:nvPr/>
        </p:nvSpPr>
        <p:spPr>
          <a:xfrm>
            <a:off x="209727" y="1109741"/>
            <a:ext cx="8747282" cy="4179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Tracking Becomes Harmful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Orthosomnia — anxiety caused by sleep trackers — affects about 2% of users.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75% of people with eating disorders use MyFitnessPal; 73% report it worsens their condition.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Tracking turns harmful when checked 10+ times a day or when it replaces the body's own signals.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Impact of AI Companions on Human Connection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72% of teens (13-17) use AI chatbots for emotional support; 28% of adults have used AI for romantic interaction.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Study of 5,600+ chatbot users across 6 European nations found increased loneliness after use.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always agrees and lacks non-verbal cues, preventing development of real social skills.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502919" y="146822"/>
            <a:ext cx="5928121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20" name="TextShape 3"/>
          <p:cNvSpPr txBox="1"/>
          <p:nvPr>
            <p:ph type="sldNum" sz="quarter" idx="4294967295"/>
          </p:nvPr>
        </p:nvSpPr>
        <p:spPr>
          <a:xfrm>
            <a:off x="8721494" y="6650681"/>
            <a:ext cx="181256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1" name="TextShape 2"/>
          <p:cNvSpPr txBox="1"/>
          <p:nvPr/>
        </p:nvSpPr>
        <p:spPr>
          <a:xfrm>
            <a:off x="209727" y="1109741"/>
            <a:ext cx="8747281" cy="2904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Cognitive Offloading &amp; Digital Amnesia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91% use the internet as a "second brain"; 71% cannot recall their children's phone numbers.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Heavy GPS use is linked to hippocampus shrinkage; handwriting improves retention by 34% over typing.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on digital amnesia grew 4x in four years (195 in 2019 to 837 in 2023).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increase in Wearable device market growth.</a:t>
            </a:r>
          </a:p>
        </p:txBody>
      </p:sp>
      <p:pic>
        <p:nvPicPr>
          <p:cNvPr id="122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947" y="3737269"/>
            <a:ext cx="4292396" cy="2427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5772" y="3776004"/>
            <a:ext cx="4137522" cy="23495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26" name="TextShape 3"/>
          <p:cNvSpPr txBox="1"/>
          <p:nvPr>
            <p:ph type="sldNum" sz="quarter" idx="4294967295"/>
          </p:nvPr>
        </p:nvSpPr>
        <p:spPr>
          <a:xfrm>
            <a:off x="8721495" y="6650681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7" name="TextShape 2"/>
          <p:cNvSpPr txBox="1"/>
          <p:nvPr/>
        </p:nvSpPr>
        <p:spPr>
          <a:xfrm>
            <a:off x="209727" y="1109741"/>
            <a:ext cx="8747282" cy="2221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Most Vulnerable Groups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Teenagers, people with mental health conditions, eating-disorder history, and low-income users without access to support.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Common Pattern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three areas share the same trade-off: short-term convenience leading to long-term loss of skills.</a:t>
            </a:r>
          </a:p>
        </p:txBody>
      </p:sp>
      <p:pic>
        <p:nvPicPr>
          <p:cNvPr id="128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3119" y="3324051"/>
            <a:ext cx="4355449" cy="2462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4679" y="3382144"/>
            <a:ext cx="3580459" cy="23465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32" name="TextShape 3"/>
          <p:cNvSpPr txBox="1"/>
          <p:nvPr>
            <p:ph type="sldNum" sz="quarter" idx="4294967295"/>
          </p:nvPr>
        </p:nvSpPr>
        <p:spPr>
          <a:xfrm>
            <a:off x="8721495" y="6650681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33" name="TextShape 2"/>
          <p:cNvSpPr txBox="1"/>
          <p:nvPr/>
        </p:nvSpPr>
        <p:spPr>
          <a:xfrm>
            <a:off x="209727" y="1109741"/>
            <a:ext cx="8747282" cy="485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Dual Nature of Wellness Technology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wellness apps promote healthy habits and widen access to care, but can undermine self-motivation and autonomy when overused. 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 Insight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Technology should enhance human capability, not replace it yet we are gradually crossing that line.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most serious risk lies with children, who may never fully develop navigation, memory, empathy, and emotional regulation.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Guiding Questions for Users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Before letting AI decide for you, ask: i</a:t>
            </a:r>
            <a:r>
              <a:t>s it impossible for me to do it myself? Or am I just avoiding something that I find unpleasant? 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crucial to understand the significance of losing something being unable to do things in an optimal way, losing one’s humanity, and being subject to the process.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do I not learn? (4) What am I going to miss if I do not learn it?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136" name="TextShape 3"/>
          <p:cNvSpPr txBox="1"/>
          <p:nvPr>
            <p:ph type="sldNum" sz="quarter" idx="4294967295"/>
          </p:nvPr>
        </p:nvSpPr>
        <p:spPr>
          <a:xfrm>
            <a:off x="8721495" y="6650681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37" name="TextShape 2"/>
          <p:cNvSpPr txBox="1"/>
          <p:nvPr/>
        </p:nvSpPr>
        <p:spPr>
          <a:xfrm>
            <a:off x="209727" y="1109741"/>
            <a:ext cx="8747282" cy="5147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Directions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Long-term longitudinal studies (10-20 years) on how continuous AI exposure from childhood shapes development.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Cross-cultural research beyond Western populations to identify global patterns of digital dependence.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Neuroimaging studies on brain recovery and intervention trials on mindful digital practices.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 &amp; Policy Recommendations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Wellness apps should reduce addictive triggers (streaks, notifications) and disclose their limitations.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Governments should introduce consumer protections, age limits on AI companions, and digital-literacy education.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Toward an Interdisciplinary Framework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work must examine how wearables, chatbots, and smartphones interact to shape cognition and behavior.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</p:spPr>
        <p:txBody>
          <a:bodyPr/>
          <a:lstStyle>
            <a:lvl1pPr>
              <a:defRPr spc="-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140" name="ReferencesBody"/>
          <p:cNvSpPr txBox="1"/>
          <p:nvPr/>
        </p:nvSpPr>
        <p:spPr>
          <a:xfrm>
            <a:off x="502919" y="1200000"/>
            <a:ext cx="8138162" cy="4118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Lasikiewicz N, Scudds R. WAT's up? Investigating the effects of wearable activity trackers. Journal of Technology in Behavioral Science, 2024.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Baron KG et al. Orthosomnia: Are some patients over-quantifying themselves to excess? Journal of Clinical Sleep Medicine, 2017; 13(2): 351-354.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Levinson CA et al. My Fitness Pal calorie counter use among eating disorder patients. Eating Behaviors, 2017; 27: 14-16.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Kaspersky Lab. Digital Amnesia: The Disappearance of Memory, 2015.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Parasocial Relationships With AI: Dangers, Threats, and Possible Solutions. FasPsych, October 2025.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Influences of attractions on chatbot usage and media addiction. BMC Psychology, August 2025; 13: 986.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Maguire EA et al. London taxi drivers: An MRI analysis of brain structure. Hippocampus, 2006; 16.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Macrynikola N et al. The impact of mindfulness apps on psychological processes of change: a systematic review. npj Mental Health Research, 2024; 3(1): 14.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Uslu U. Understanding digital wellbeing: impacts, strategies, and the path to healthier technology practices. Digital Wellbeing, 2025; 5: art. 145.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Adanyin A. AI Feedback Loops in Digital Technologies: Psychological Impacts on User Behavior and Well-Being. arXiv, 2024.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1343296" y="3102118"/>
            <a:ext cx="6614161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43" name="TextShape 3"/>
          <p:cNvSpPr txBox="1"/>
          <p:nvPr>
            <p:ph type="sldNum" sz="quarter" idx="4294967295"/>
          </p:nvPr>
        </p:nvSpPr>
        <p:spPr>
          <a:xfrm>
            <a:off x="8428070" y="6414707"/>
            <a:ext cx="258370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